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judges! Today we present PriceGuard AI — a centralized automated intelligence platform designed to monitor market commodities, compute dynamic fair prices, and catch price manipulation before it harms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season, essential food prices skyrocket overnight. The main issue is artificial hoarding and market opacity. Consumers don't know what a fair price is, and authorities lack real-time tools to spot market manipulation.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PriceGuard AI acts as an automated guardian for market prices. It processes price feeds, runs ML algorithms, computes a 0-100 Reasonability Score, and immediately flags price manipulation.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PriceGuard AI directly aligns with 3 UN SDGs: SDG 1 by protecting household budgets, SDG 8 by enforcing fair market practices, and SDG 12 by bringing end-to-end supply chain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data flow starts from market feeds, computes statistical baselines, feeds normalized feature vectors into an Isolation Forest model, and serves the payload via a Flask API to our interactive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a multi-layered analytical engine: Z-Scores for statistical distance, Linear Regression for long-term trends, and Isolation Forest Machine Learning to detect non-linear pricing anomalies.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web interface translates complex data into simple visual cards, status lights, trend graphs, and prioritized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our system using Python, Flask, Scikit-Learn, and Vanilla JS. For seamless deployment, we compiled everything into a standalone PriceGuardAI.exe file that runs with zero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includes integrating live government APIs, adding district-level geo-pricing, and deploying predictive LSTM models with automated SMS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PriceGuard AI brings automation, transparency, and machine learning to essential commodity pricing. Thank you for your time, and we look forward to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0D0D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A0"/>
                </a:solidFill>
              </a:defRPr>
            </a:pPr>
            <a:r>
              <a:t>HACKATHON TRACK: AIML-08</a:t>
            </a:r>
          </a:p>
          <a:p>
            <a:pPr>
              <a:defRPr sz="4400" b="1">
                <a:solidFill>
                  <a:srgbClr val="EEEEF5"/>
                </a:solidFill>
              </a:defRPr>
            </a:pPr>
            <a:r>
              <a:t>PriceGuard AI 🛡️</a:t>
            </a:r>
          </a:p>
          <a:p>
            <a:pPr>
              <a:defRPr sz="2000">
                <a:solidFill>
                  <a:srgbClr val="8888AA"/>
                </a:solidFill>
              </a:defRPr>
            </a:pPr>
            <a:r>
              <a:t>Centralized Automated System for Price Estimation &amp; Reasonability</a:t>
            </a:r>
          </a:p>
          <a:p>
            <a:br/>
            <a:pPr>
              <a:defRPr sz="1300">
                <a:solidFill>
                  <a:srgbClr val="00B4D8"/>
                </a:solidFill>
              </a:defRPr>
            </a:pPr>
            <a:r>
              <a:t>SDG Alignment: SDG 1 (No Poverty) | SDG 8 (Decent Work) | SDG 12 (Responsible Consumption)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A0"/>
                </a:solidFill>
                <a:latin typeface="Arial"/>
              </a:defRPr>
            </a:pPr>
            <a:r>
              <a:t>PRICEGUARD AI • AIML-08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F5"/>
                </a:solidFill>
                <a:latin typeface="Arial"/>
              </a:defRPr>
            </a:pPr>
            <a:r>
              <a:t>The Problem: Market Gouging &amp; Lack of Price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757"/>
                </a:solidFill>
              </a:defRPr>
            </a:pPr>
            <a:r>
              <a:t>🚨 Artificial Price Spikes</a:t>
            </a:r>
          </a:p>
          <a:p>
            <a:br/>
            <a:pPr>
              <a:defRPr sz="1400">
                <a:solidFill>
                  <a:srgbClr val="8888AA"/>
                </a:solidFill>
              </a:defRPr>
            </a:pPr>
            <a:r>
              <a:t>Essential food staples like onions and tomatoes suffer 60%+ artificial price spikes caused by hoarding and supply manipulation.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757"/>
                </a:solidFill>
              </a:defRPr>
            </a:pPr>
            <a:r>
              <a:t>👁️ Zero Real-time Visibility</a:t>
            </a:r>
          </a:p>
          <a:p>
            <a:br/>
            <a:pPr>
              <a:defRPr sz="1400">
                <a:solidFill>
                  <a:srgbClr val="8888AA"/>
                </a:solidFill>
              </a:defRPr>
            </a:pPr>
            <a:r>
              <a:t>Neither consumers nor regulatory bodies have automated statistical baselines to determine if a market price is fair.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757"/>
                </a:solidFill>
              </a:defRPr>
            </a:pPr>
            <a:r>
              <a:t>📉 Economic Vulnerability</a:t>
            </a:r>
          </a:p>
          <a:p>
            <a:br/>
            <a:pPr>
              <a:defRPr sz="1400">
                <a:solidFill>
                  <a:srgbClr val="8888AA"/>
                </a:solidFill>
              </a:defRPr>
            </a:pPr>
            <a:r>
              <a:t>Uncontrolled price inflation hits lower-income households hardest, directly threatening household food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A0"/>
                </a:solidFill>
                <a:latin typeface="Arial"/>
              </a:defRPr>
            </a:pPr>
            <a:r>
              <a:t>PRICEGUARD AI • AIML-08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F5"/>
                </a:solidFill>
                <a:latin typeface="Arial"/>
              </a:defRPr>
            </a:pPr>
            <a:r>
              <a:t>The Solution: PriceGuard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A0"/>
                </a:solidFill>
              </a:defRPr>
            </a:pPr>
            <a:r>
              <a:t>📊 Automated Fair Value Estimation</a:t>
            </a:r>
          </a:p>
          <a:p>
            <a:br/>
            <a:pPr>
              <a:defRPr sz="1300">
                <a:solidFill>
                  <a:srgbClr val="EEEEF5"/>
                </a:solidFill>
              </a:defRPr>
            </a:pPr>
            <a:r>
              <a:t>Calculates dynamic statistical baseline price ranges (Mean ± 1 Standard Deviation) using historical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0D0D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A0"/>
                </a:solidFill>
              </a:defRPr>
            </a:pPr>
            <a:r>
              <a:t>🤖 Dual-Layer Anomaly Detection</a:t>
            </a:r>
          </a:p>
          <a:p>
            <a:br/>
            <a:pPr>
              <a:defRPr sz="1300">
                <a:solidFill>
                  <a:srgbClr val="EEEEF5"/>
                </a:solidFill>
              </a:defRPr>
            </a:pPr>
            <a:r>
              <a:t>Combines Z-Score thresholding with an Isolation Forest Machine Learning model to isolate price gouging.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A0"/>
                </a:solidFill>
              </a:defRPr>
            </a:pPr>
            <a:r>
              <a:t>🚥 Reasonability Index (0-100)</a:t>
            </a:r>
          </a:p>
          <a:p>
            <a:br/>
            <a:pPr>
              <a:defRPr sz="1300">
                <a:solidFill>
                  <a:srgbClr val="EEEEF5"/>
                </a:solidFill>
              </a:defRPr>
            </a:pPr>
            <a:r>
              <a:t>Translates complex mathematical metrics into a clean, color-coded score (Fair, Watch, Alert) for non-technical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A0"/>
                </a:solidFill>
              </a:defRPr>
            </a:pPr>
            <a:r>
              <a:t>🚨 Real-Time Alerts Feed</a:t>
            </a:r>
          </a:p>
          <a:p>
            <a:br/>
            <a:pPr>
              <a:defRPr sz="1300">
                <a:solidFill>
                  <a:srgbClr val="EEEEF5"/>
                </a:solidFill>
              </a:defRPr>
            </a:pPr>
            <a:r>
              <a:t>Generates priority-ranked warning cards for regulatory authorities whenever suspicious volatility occurs.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A0"/>
                </a:solidFill>
                <a:latin typeface="Arial"/>
              </a:defRPr>
            </a:pPr>
            <a:r>
              <a:t>PRICEGUARD AI • AIML-08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F5"/>
                </a:solidFill>
                <a:latin typeface="Arial"/>
              </a:defRPr>
            </a:pPr>
            <a:r>
              <a:t>UN Sustainable Development Goals (SDGs)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0D0D2B"/>
          </a:solidFill>
          <a:ln w="19050">
            <a:solidFill>
              <a:srgbClr val="E5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243B"/>
                </a:solidFill>
              </a:defRPr>
            </a:pPr>
            <a:r>
              <a:t>SDG 1: No Poverty</a:t>
            </a:r>
          </a:p>
          <a:p>
            <a:pPr>
              <a:defRPr sz="1400">
                <a:solidFill>
                  <a:srgbClr val="EEEEF5"/>
                </a:solidFill>
              </a:defRPr>
            </a:pPr>
            <a:r>
              <a:t>Protects low-income households from predatory price gouging on daily essential food staples.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0D0D2B"/>
          </a:solidFill>
          <a:ln w="19050">
            <a:solidFill>
              <a:srgbClr val="A21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21942"/>
                </a:solidFill>
              </a:defRPr>
            </a:pPr>
            <a:r>
              <a:t>SDG 8: Decent Work &amp; Economic Growth</a:t>
            </a:r>
          </a:p>
          <a:p>
            <a:pPr>
              <a:defRPr sz="1400">
                <a:solidFill>
                  <a:srgbClr val="EEEEF5"/>
                </a:solidFill>
              </a:defRPr>
            </a:pPr>
            <a:r>
              <a:t>Fosters transparent, fair commercial market practices and protects legitimate sellers.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0D0D2B"/>
          </a:solidFill>
          <a:ln w="19050">
            <a:solidFill>
              <a:srgbClr val="BF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F8B2E"/>
                </a:solidFill>
              </a:defRPr>
            </a:pPr>
            <a:r>
              <a:t>SDG 12: Responsible Consumption</a:t>
            </a:r>
          </a:p>
          <a:p>
            <a:pPr>
              <a:defRPr sz="1400">
                <a:solidFill>
                  <a:srgbClr val="EEEEF5"/>
                </a:solidFill>
              </a:defRPr>
            </a:pPr>
            <a:r>
              <a:t>Enables data-backed price accountability across the entire supply chain from farm to retail.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A0"/>
                </a:solidFill>
                <a:latin typeface="Arial"/>
              </a:defRPr>
            </a:pPr>
            <a:r>
              <a:t>PRICEGUARD AI • AIML-08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F5"/>
                </a:solidFill>
                <a:latin typeface="Arial"/>
              </a:defRPr>
            </a:pPr>
            <a:r>
              <a:t>System Architecture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320040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1. Data Ingestion</a:t>
            </a:r>
          </a:p>
          <a:p>
            <a:br/>
            <a:pPr>
              <a:defRPr sz="1200">
                <a:solidFill>
                  <a:srgbClr val="8888AA"/>
                </a:solidFill>
              </a:defRPr>
            </a:pPr>
            <a:r>
              <a:t>Historical &amp; current market feeds (eNAM / AGMARKNET)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2286000"/>
            <a:ext cx="2011680" cy="320040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246888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2. Stat Baseline</a:t>
            </a:r>
          </a:p>
          <a:p>
            <a:br/>
            <a:pPr>
              <a:defRPr sz="1200">
                <a:solidFill>
                  <a:srgbClr val="8888AA"/>
                </a:solidFill>
              </a:defRPr>
            </a:pPr>
            <a:r>
              <a:t>Calculate Mean, Std Dev &amp; Fair Range Bounds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286000"/>
            <a:ext cx="2011680" cy="3200400"/>
          </a:xfrm>
          <a:prstGeom prst="roundRect">
            <a:avLst/>
          </a:prstGeom>
          <a:solidFill>
            <a:srgbClr val="0D0D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246888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3. Isolation Forest ML</a:t>
            </a:r>
          </a:p>
          <a:p>
            <a:br/>
            <a:pPr>
              <a:defRPr sz="1200">
                <a:solidFill>
                  <a:srgbClr val="8888AA"/>
                </a:solidFill>
              </a:defRPr>
            </a:pPr>
            <a:r>
              <a:t>Multi-feature outlier detection &amp; Z-Score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86000"/>
            <a:ext cx="2011680" cy="320040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246888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4. Flask REST API</a:t>
            </a:r>
          </a:p>
          <a:p>
            <a:br/>
            <a:pPr>
              <a:defRPr sz="1200">
                <a:solidFill>
                  <a:srgbClr val="8888AA"/>
                </a:solidFill>
              </a:defRPr>
            </a:pPr>
            <a:r>
              <a:t>Serves JSON payloads to client interfaces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286000"/>
            <a:ext cx="2011680" cy="320040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246888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5. Interactive UI</a:t>
            </a:r>
          </a:p>
          <a:p>
            <a:br/>
            <a:pPr>
              <a:defRPr sz="1200">
                <a:solidFill>
                  <a:srgbClr val="8888AA"/>
                </a:solidFill>
              </a:defRPr>
            </a:pPr>
            <a:r>
              <a:t>Dashboard rendering with Chart.js &amp; alert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A0"/>
                </a:solidFill>
                <a:latin typeface="Arial"/>
              </a:defRPr>
            </a:pPr>
            <a:r>
              <a:t>PRICEGUARD AI • AIML-08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F5"/>
                </a:solidFill>
                <a:latin typeface="Arial"/>
              </a:defRPr>
            </a:pPr>
            <a:r>
              <a:t>Machine Learning &amp; Analytics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A0"/>
                </a:solidFill>
              </a:defRPr>
            </a:pPr>
            <a:r>
              <a:t>📐 Statistical Fair Range</a:t>
            </a:r>
          </a:p>
          <a:p>
            <a:br/>
            <a:pPr>
              <a:defRPr sz="1300">
                <a:solidFill>
                  <a:srgbClr val="EEEEF5"/>
                </a:solidFill>
              </a:defRPr>
            </a:pPr>
            <a:r>
              <a:t>Uses Mean ± 1 Standard Deviation to define the equilibrium price band where ~68% of normal historical prices reside.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A0"/>
                </a:solidFill>
              </a:defRPr>
            </a:pPr>
            <a:r>
              <a:t>📊 Z-Score Thresholding</a:t>
            </a:r>
          </a:p>
          <a:p>
            <a:br/>
            <a:pPr>
              <a:defRPr sz="1300">
                <a:solidFill>
                  <a:srgbClr val="EEEEF5"/>
                </a:solidFill>
              </a:defRPr>
            </a:pPr>
            <a:r>
              <a:t>Z = (Price - Mean) / StdDev. Measures how many standard deviations a price strays. Values |Z| &gt; 2 flag statistical anomalies.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A0"/>
                </a:solidFill>
              </a:defRPr>
            </a:pPr>
            <a:r>
              <a:t>🌲 Isolation Forest ML</a:t>
            </a:r>
          </a:p>
          <a:p>
            <a:br/>
            <a:pPr>
              <a:defRPr sz="1300">
                <a:solidFill>
                  <a:srgbClr val="EEEEF5"/>
                </a:solidFill>
              </a:defRPr>
            </a:pPr>
            <a:r>
              <a:t>Unsupervised tree ensemble trained on [price_ratio, volatility_cv, total_change]. Isolates abnormal pricing patterns independently of linear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A0"/>
                </a:solidFill>
              </a:defRPr>
            </a:pPr>
            <a:r>
              <a:t>📈 Linear Regression Trend</a:t>
            </a:r>
          </a:p>
          <a:p>
            <a:br/>
            <a:pPr>
              <a:defRPr sz="1300">
                <a:solidFill>
                  <a:srgbClr val="EEEEF5"/>
                </a:solidFill>
              </a:defRPr>
            </a:pPr>
            <a:r>
              <a:t>Fits slope line across historical sequences to differentiate gradual inflation from sudden temporary price spikes.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A0"/>
                </a:solidFill>
                <a:latin typeface="Arial"/>
              </a:defRPr>
            </a:pPr>
            <a:r>
              <a:t>PRICEGUARD AI • AIML-08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F5"/>
                </a:solidFill>
                <a:latin typeface="Arial"/>
              </a:defRPr>
            </a:pPr>
            <a:r>
              <a:t>Product Showcase: Live Dashboard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A0"/>
                </a:solidFill>
              </a:defRPr>
            </a:pPr>
            <a:r>
              <a:t>🖥️ Key UI Components</a:t>
            </a:r>
          </a:p>
          <a:p>
            <a:pPr>
              <a:defRPr sz="1300">
                <a:solidFill>
                  <a:srgbClr val="EEEEF5"/>
                </a:solidFill>
              </a:defRPr>
            </a:pPr>
            <a:r>
              <a:t>• Status Overview Cards: Overall market health, average reasonability, active alerts.</a:t>
            </a:r>
          </a:p>
          <a:p>
            <a:pPr>
              <a:defRPr sz="1300">
                <a:solidFill>
                  <a:srgbClr val="EEEEF5"/>
                </a:solidFill>
              </a:defRPr>
            </a:pPr>
            <a:r>
              <a:t>• Commodity Grid Cards: Real-time price, fair min/max range, status badges (Fair / Watch / Alert).</a:t>
            </a:r>
          </a:p>
          <a:p>
            <a:pPr>
              <a:defRPr sz="1300">
                <a:solidFill>
                  <a:srgbClr val="EEEEF5"/>
                </a:solidFill>
              </a:defRPr>
            </a:pPr>
            <a:r>
              <a:t>• Visual Reasonability Bar: Color-coded progress bar (0-100%) indicating price fairness.</a:t>
            </a:r>
          </a:p>
          <a:p>
            <a:pPr>
              <a:defRPr sz="1300">
                <a:solidFill>
                  <a:srgbClr val="EEEEF5"/>
                </a:solidFill>
              </a:defRPr>
            </a:pPr>
            <a:r>
              <a:t>• Historical Trend Chart: Chart.js powered 12-month graph with dashed fair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4757"/>
                </a:solidFill>
              </a:defRPr>
            </a:pPr>
            <a:r>
              <a:t>🚨 Anomaly Feed &amp; Alerts</a:t>
            </a:r>
          </a:p>
          <a:p>
            <a:pPr>
              <a:defRPr sz="1300">
                <a:solidFill>
                  <a:srgbClr val="EEEEF5"/>
                </a:solidFill>
              </a:defRPr>
            </a:pPr>
            <a:r>
              <a:t>• High Severity Alerts: Triggered when Z &gt; 2.0 or score drops below 40%.</a:t>
            </a:r>
          </a:p>
          <a:p>
            <a:pPr>
              <a:defRPr sz="1300">
                <a:solidFill>
                  <a:srgbClr val="EEEEF5"/>
                </a:solidFill>
              </a:defRPr>
            </a:pPr>
            <a:r>
              <a:t>• Medium Severity Warnings: Issued for sustained inflation above fair ceilings.</a:t>
            </a:r>
          </a:p>
          <a:p>
            <a:pPr>
              <a:defRPr sz="1300">
                <a:solidFill>
                  <a:srgbClr val="EEEEF5"/>
                </a:solidFill>
              </a:defRPr>
            </a:pPr>
            <a:r>
              <a:t>• Low Severity Monitoring: Logs minor seasonal adjustments.</a:t>
            </a:r>
          </a:p>
          <a:p>
            <a:pPr>
              <a:defRPr sz="1300">
                <a:solidFill>
                  <a:srgbClr val="EEEEF5"/>
                </a:solidFill>
              </a:defRPr>
            </a:pPr>
            <a:r>
              <a:t>• Full Context Details: Describes percentage surge, statistical metrics, and trigger 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A0"/>
                </a:solidFill>
                <a:latin typeface="Arial"/>
              </a:defRPr>
            </a:pPr>
            <a:r>
              <a:t>PRICEGUARD AI • AIML-08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F5"/>
                </a:solidFill>
                <a:latin typeface="Arial"/>
              </a:defRPr>
            </a:pPr>
            <a:r>
              <a:t>Technical Stack &amp; Standalone Executable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A0"/>
                </a:solidFill>
              </a:defRPr>
            </a:pPr>
            <a:r>
              <a:t>🎨 Frontend</a:t>
            </a:r>
          </a:p>
          <a:p>
            <a:br/>
            <a:pPr>
              <a:defRPr sz="1400">
                <a:solidFill>
                  <a:srgbClr val="EEEEF5"/>
                </a:solidFill>
              </a:defRPr>
            </a:pPr>
            <a:r>
              <a:t>HTML5, Glassmorphic CSS3, ES6+ JS, Chart.js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A0"/>
                </a:solidFill>
              </a:defRPr>
            </a:pPr>
            <a:r>
              <a:t>⚡ Backend Server</a:t>
            </a:r>
          </a:p>
          <a:p>
            <a:br/>
            <a:pPr>
              <a:defRPr sz="1400">
                <a:solidFill>
                  <a:srgbClr val="EEEEF5"/>
                </a:solidFill>
              </a:defRPr>
            </a:pPr>
            <a:r>
              <a:t>Python 3.13, Flask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A0"/>
                </a:solidFill>
              </a:defRPr>
            </a:pPr>
            <a:r>
              <a:t>🧠 ML &amp; Stats</a:t>
            </a:r>
          </a:p>
          <a:p>
            <a:br/>
            <a:pPr>
              <a:defRPr sz="1400">
                <a:solidFill>
                  <a:srgbClr val="EEEEF5"/>
                </a:solidFill>
              </a:defRPr>
            </a:pPr>
            <a:r>
              <a:t>NumPy, Scikit-learn (IsolationForest, LinearRegression)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0D0D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A0"/>
                </a:solidFill>
              </a:defRPr>
            </a:pPr>
            <a:r>
              <a:t>📦 Distribution</a:t>
            </a:r>
          </a:p>
          <a:p>
            <a:br/>
            <a:pPr>
              <a:defRPr sz="1400">
                <a:solidFill>
                  <a:srgbClr val="EEEEF5"/>
                </a:solidFill>
              </a:defRPr>
            </a:pPr>
            <a:r>
              <a:t>Compiled Standalone Windows Executable (PriceGuardAI.exe)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A0"/>
                </a:solidFill>
                <a:latin typeface="Arial"/>
              </a:defRPr>
            </a:pPr>
            <a:r>
              <a:t>PRICEGUARD AI • AIML-08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F5"/>
                </a:solidFill>
                <a:latin typeface="Arial"/>
              </a:defRPr>
            </a:pPr>
            <a:r>
              <a:t>Future Roadmap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Phase 1: Current Baseline</a:t>
            </a:r>
          </a:p>
          <a:p>
            <a:pPr>
              <a:defRPr sz="1200">
                <a:solidFill>
                  <a:srgbClr val="EEEEF5"/>
                </a:solidFill>
              </a:defRPr>
            </a:pPr>
            <a:r>
              <a:t>Functional ML model, REST API, responsive web dashboard, and standalone desktop package.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Phase 2: Live Mandi API Integration</a:t>
            </a:r>
          </a:p>
          <a:p>
            <a:pPr>
              <a:defRPr sz="1200">
                <a:solidFill>
                  <a:srgbClr val="EEEEF5"/>
                </a:solidFill>
              </a:defRPr>
            </a:pPr>
            <a:r>
              <a:t>Direct API integration with national agriculture feeds (eNAM, AGMARKNET) for real-time market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Phase 3: Multi-Regional Geo-Pricing</a:t>
            </a:r>
          </a:p>
          <a:p>
            <a:pPr>
              <a:defRPr sz="1200">
                <a:solidFill>
                  <a:srgbClr val="EEEEF5"/>
                </a:solidFill>
              </a:defRPr>
            </a:pPr>
            <a:r>
              <a:t>District-level fair estimation considering transportation, regional tariffs, and local supply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0D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Phase 4: Predictive Forecasting &amp; Push Alerts</a:t>
            </a:r>
          </a:p>
          <a:p>
            <a:pPr>
              <a:defRPr sz="1200">
                <a:solidFill>
                  <a:srgbClr val="EEEEF5"/>
                </a:solidFill>
              </a:defRPr>
            </a:pPr>
            <a:r>
              <a:t>LSTM deep learning models for advance price forecasting and automated SMS/WhatsApp alerts for market inspectors.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0D0D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E5A0"/>
                </a:solidFill>
              </a:defRPr>
            </a:pPr>
            <a:r>
              <a:t>PRICEGUARD AI 🛡️</a:t>
            </a:r>
          </a:p>
          <a:p>
            <a:pPr>
              <a:defRPr sz="2200">
                <a:solidFill>
                  <a:srgbClr val="EEEEF5"/>
                </a:solidFill>
              </a:defRPr>
            </a:pPr>
            <a:r>
              <a:t>Fair Markets Through Machine Learning</a:t>
            </a:r>
          </a:p>
          <a:p>
            <a:br/>
            <a:pPr>
              <a:defRPr sz="1500">
                <a:solidFill>
                  <a:srgbClr val="8888AA"/>
                </a:solidFill>
              </a:defRPr>
            </a:pPr>
            <a:r>
              <a:t>• Automated Data-Driven Fair Estimation</a:t>
            </a:r>
            <a:br/>
            <a:r>
              <a:t>• Dual-Layer Machine Learning Outlier Detection</a:t>
            </a:r>
            <a:br/>
            <a:r>
              <a:t>• Zero-Setup Standalone Deployment (.exe)</a:t>
            </a:r>
          </a:p>
          <a:p>
            <a:br/>
            <a:pPr>
              <a:defRPr sz="1800" b="1">
                <a:solidFill>
                  <a:srgbClr val="00B4D8"/>
                </a:solidFill>
              </a:defRPr>
            </a:pPr>
            <a:r>
              <a:t>Thank You! Open for Questions &amp;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